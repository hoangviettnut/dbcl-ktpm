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000" b="1">
                <a:solidFill>
                  <a:srgbClr val="38BDF8"/>
                </a:solidFill>
                <a:latin typeface="Arial"/>
              </a:defRPr>
            </a:pPr>
            <a:r>
              <a:rPr sz="3000" dirty="0"/>
              <a:t>ĐẢM BẢO CHẤT LƯỢNG &amp; KIỂM THỬ PHẦN MỀM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CLEAN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5000" b="1">
                <a:solidFill>
                  <a:srgbClr val="F472B6"/>
                </a:solidFill>
                <a:latin typeface="Arial"/>
              </a:defRPr>
            </a:pPr>
            <a:r>
              <a:rPr dirty="0"/>
              <a:t>&amp; REFACTORING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(Testability)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8333" y="4430341"/>
            <a:ext cx="49950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bg1"/>
              </a:solidFill>
            </a:endParaRPr>
          </a:p>
          <a:p>
            <a:pPr>
              <a:defRPr sz="1800" b="0">
                <a:solidFill>
                  <a:srgbClr val="C8C8C8"/>
                </a:solidFill>
                <a:latin typeface="Arial"/>
              </a:defRPr>
            </a:pPr>
            <a:r>
              <a:rPr b="1" dirty="0">
                <a:solidFill>
                  <a:schemeClr val="bg1"/>
                </a:solidFill>
              </a:rPr>
              <a:t>Sinh </a:t>
            </a:r>
            <a:r>
              <a:rPr b="1" dirty="0" err="1">
                <a:solidFill>
                  <a:schemeClr val="bg1"/>
                </a:solidFill>
              </a:rPr>
              <a:t>viên</a:t>
            </a:r>
            <a:r>
              <a:rPr b="1" dirty="0">
                <a:solidFill>
                  <a:schemeClr val="bg1"/>
                </a:solidFill>
              </a:rPr>
              <a:t>: </a:t>
            </a:r>
            <a:r>
              <a:rPr dirty="0">
                <a:solidFill>
                  <a:schemeClr val="bg1"/>
                </a:solidFill>
              </a:rPr>
              <a:t>Lương Hoàng Việt</a:t>
            </a:r>
            <a:br>
              <a:rPr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</a:rPr>
              <a:t>MSSV: </a:t>
            </a:r>
            <a:r>
              <a:rPr dirty="0">
                <a:solidFill>
                  <a:schemeClr val="bg1"/>
                </a:solidFill>
              </a:rPr>
              <a:t>K225480106073</a:t>
            </a:r>
            <a:br>
              <a:rPr dirty="0">
                <a:solidFill>
                  <a:schemeClr val="bg1"/>
                </a:solidFill>
              </a:rPr>
            </a:br>
            <a:r>
              <a:rPr b="1" dirty="0" err="1">
                <a:solidFill>
                  <a:schemeClr val="bg1"/>
                </a:solidFill>
              </a:rPr>
              <a:t>Lớp</a:t>
            </a:r>
            <a:r>
              <a:rPr b="1" dirty="0">
                <a:solidFill>
                  <a:schemeClr val="bg1"/>
                </a:solidFill>
              </a:rPr>
              <a:t>: </a:t>
            </a:r>
            <a:r>
              <a:rPr dirty="0">
                <a:solidFill>
                  <a:schemeClr val="bg1"/>
                </a:solidFill>
              </a:rPr>
              <a:t>58.KTP</a:t>
            </a:r>
            <a:br>
              <a:rPr dirty="0">
                <a:solidFill>
                  <a:schemeClr val="bg1"/>
                </a:solidFill>
              </a:rPr>
            </a:br>
            <a:r>
              <a:rPr b="1" dirty="0">
                <a:solidFill>
                  <a:schemeClr val="bg1"/>
                </a:solidFill>
              </a:rPr>
              <a:t>GVHD: </a:t>
            </a:r>
            <a:r>
              <a:rPr dirty="0">
                <a:solidFill>
                  <a:schemeClr val="bg1"/>
                </a:solidFill>
              </a:rPr>
              <a:t>TS. Nguyễn Tuấn Linh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820095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1. </a:t>
            </a:r>
            <a:r>
              <a:rPr dirty="0" err="1">
                <a:solidFill>
                  <a:srgbClr val="FF0000"/>
                </a:solidFill>
              </a:rPr>
              <a:t>Đặt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Vấn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Đề</a:t>
            </a:r>
            <a:r>
              <a:rPr dirty="0">
                <a:solidFill>
                  <a:srgbClr val="FF0000"/>
                </a:solidFill>
              </a:rPr>
              <a:t>: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Nghẽn</a:t>
            </a:r>
            <a:r>
              <a:rPr dirty="0"/>
              <a:t> Trong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0">
                <a:solidFill>
                  <a:srgbClr val="E2E8F0"/>
                </a:solidFill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Thực</a:t>
            </a:r>
            <a:r>
              <a:rPr b="1" dirty="0"/>
              <a:t> </a:t>
            </a:r>
            <a:r>
              <a:rPr b="1" dirty="0" err="1"/>
              <a:t>trạng</a:t>
            </a:r>
            <a:r>
              <a:rPr b="1" dirty="0"/>
              <a:t>: </a:t>
            </a:r>
            <a:r>
              <a:rPr dirty="0" err="1"/>
              <a:t>Khâu</a:t>
            </a:r>
            <a:r>
              <a:rPr dirty="0"/>
              <a:t> </a:t>
            </a:r>
            <a:r>
              <a:rPr dirty="0" err="1"/>
              <a:t>viết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duy</a:t>
            </a:r>
            <a:r>
              <a:rPr dirty="0"/>
              <a:t> </a:t>
            </a:r>
            <a:r>
              <a:rPr dirty="0" err="1"/>
              <a:t>trì</a:t>
            </a:r>
            <a:r>
              <a:rPr dirty="0"/>
              <a:t> </a:t>
            </a:r>
            <a:r>
              <a:rPr dirty="0" err="1"/>
              <a:t>kịch</a:t>
            </a:r>
            <a:r>
              <a:rPr dirty="0"/>
              <a:t> </a:t>
            </a:r>
            <a:r>
              <a:rPr dirty="0" err="1"/>
              <a:t>bản</a:t>
            </a:r>
            <a:r>
              <a:rPr dirty="0"/>
              <a:t> Unit Test </a:t>
            </a:r>
            <a:r>
              <a:rPr dirty="0" err="1"/>
              <a:t>thường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tốn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lớn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</a:t>
            </a:r>
            <a:r>
              <a:rPr dirty="0" err="1"/>
              <a:t>gian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chu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(SDLC).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0">
                <a:solidFill>
                  <a:srgbClr val="E2E8F0"/>
                </a:solidFill>
                <a:latin typeface="Arial"/>
              </a:defRPr>
            </a:pPr>
            <a:r>
              <a:rPr b="1" dirty="0"/>
              <a:t>• Nguyên </a:t>
            </a:r>
            <a:r>
              <a:rPr b="1" dirty="0" err="1"/>
              <a:t>nhân</a:t>
            </a:r>
            <a:r>
              <a:rPr b="1" dirty="0"/>
              <a:t> </a:t>
            </a:r>
            <a:r>
              <a:rPr b="1" dirty="0" err="1"/>
              <a:t>cốt</a:t>
            </a:r>
            <a:r>
              <a:rPr b="1" dirty="0"/>
              <a:t> </a:t>
            </a:r>
            <a:r>
              <a:rPr b="1" dirty="0" err="1"/>
              <a:t>lõi</a:t>
            </a:r>
            <a:r>
              <a:rPr b="1" dirty="0"/>
              <a:t>: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,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linh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0">
                <a:solidFill>
                  <a:srgbClr val="E2E8F0"/>
                </a:solidFill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Sự</a:t>
            </a:r>
            <a:r>
              <a:rPr b="1" dirty="0"/>
              <a:t> </a:t>
            </a:r>
            <a:r>
              <a:rPr b="1" dirty="0" err="1"/>
              <a:t>phụ</a:t>
            </a:r>
            <a:r>
              <a:rPr b="1" dirty="0"/>
              <a:t> </a:t>
            </a:r>
            <a:r>
              <a:rPr b="1" dirty="0" err="1"/>
              <a:t>thuộc</a:t>
            </a:r>
            <a:r>
              <a:rPr b="1" dirty="0"/>
              <a:t> </a:t>
            </a:r>
            <a:r>
              <a:rPr b="1" dirty="0" err="1"/>
              <a:t>trạng</a:t>
            </a:r>
            <a:r>
              <a:rPr b="1" dirty="0"/>
              <a:t> </a:t>
            </a:r>
            <a:r>
              <a:rPr b="1" dirty="0" err="1"/>
              <a:t>thái</a:t>
            </a:r>
            <a:r>
              <a:rPr b="1" dirty="0"/>
              <a:t>: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tạp</a:t>
            </a:r>
            <a:r>
              <a:rPr dirty="0"/>
              <a:t> </a:t>
            </a:r>
            <a:r>
              <a:rPr dirty="0" err="1"/>
              <a:t>cản</a:t>
            </a:r>
            <a:r>
              <a:rPr dirty="0"/>
              <a:t> </a:t>
            </a:r>
            <a:r>
              <a:rPr dirty="0" err="1"/>
              <a:t>trở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r>
              <a:rPr dirty="0"/>
              <a:t> (Unit Isolation)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độc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0">
                <a:solidFill>
                  <a:srgbClr val="E2E8F0"/>
                </a:solidFill>
                <a:latin typeface="Arial"/>
              </a:defRPr>
            </a:pPr>
            <a:r>
              <a:rPr b="1" dirty="0"/>
              <a:t>• </a:t>
            </a:r>
            <a:r>
              <a:rPr b="1" dirty="0" err="1"/>
              <a:t>Hệ</a:t>
            </a:r>
            <a:r>
              <a:rPr b="1" dirty="0"/>
              <a:t> </a:t>
            </a:r>
            <a:r>
              <a:rPr b="1" dirty="0" err="1"/>
              <a:t>quả</a:t>
            </a:r>
            <a:r>
              <a:rPr b="1" dirty="0"/>
              <a:t>: </a:t>
            </a:r>
            <a:r>
              <a:rPr dirty="0"/>
              <a:t>Gia </a:t>
            </a:r>
            <a:r>
              <a:rPr dirty="0" err="1"/>
              <a:t>tăng</a:t>
            </a:r>
            <a:r>
              <a:rPr dirty="0"/>
              <a:t> chi </a:t>
            </a:r>
            <a:r>
              <a:rPr dirty="0" err="1"/>
              <a:t>phí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lỗi</a:t>
            </a:r>
            <a:r>
              <a:rPr dirty="0"/>
              <a:t> (Cost of defect correction)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(Integration Tests)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chậm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049000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00B050"/>
                </a:solidFill>
              </a:rPr>
              <a:t>2. </a:t>
            </a:r>
            <a:r>
              <a:rPr dirty="0" err="1">
                <a:solidFill>
                  <a:srgbClr val="00B050"/>
                </a:solidFill>
              </a:rPr>
              <a:t>Cơ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Sở</a:t>
            </a:r>
            <a:r>
              <a:rPr dirty="0">
                <a:solidFill>
                  <a:srgbClr val="00B050"/>
                </a:solidFill>
              </a:rPr>
              <a:t> Lý </a:t>
            </a:r>
            <a:r>
              <a:rPr dirty="0" err="1">
                <a:solidFill>
                  <a:srgbClr val="00B050"/>
                </a:solidFill>
              </a:rPr>
              <a:t>Thuyết</a:t>
            </a:r>
            <a:r>
              <a:rPr dirty="0">
                <a:solidFill>
                  <a:srgbClr val="00B050"/>
                </a:solidFill>
              </a:rPr>
              <a:t>: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(Testability)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38BDF8"/>
                </a:solidFill>
                <a:latin typeface="Arial"/>
              </a:defRPr>
            </a:pPr>
            <a:r>
              <a:t>Khả năng Điều khiển (Controllability)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76495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 b="0">
                <a:solidFill>
                  <a:srgbClr val="C8C8C8"/>
                </a:solidFill>
                <a:latin typeface="Arial"/>
              </a:defRPr>
            </a:pP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dễ</a:t>
            </a:r>
            <a:r>
              <a:rPr dirty="0"/>
              <a:t> </a:t>
            </a:r>
            <a:r>
              <a:rPr dirty="0" err="1"/>
              <a:t>dàng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kỹ</a:t>
            </a:r>
            <a:r>
              <a:rPr dirty="0"/>
              <a:t> </a:t>
            </a:r>
            <a:r>
              <a:rPr dirty="0" err="1"/>
              <a:t>sư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mong</a:t>
            </a:r>
            <a:r>
              <a:rPr dirty="0"/>
              <a:t> </a:t>
            </a:r>
            <a:r>
              <a:rPr dirty="0" err="1"/>
              <a:t>muốn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ngoài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b="1" dirty="0" err="1">
                <a:solidFill>
                  <a:srgbClr val="00B050"/>
                </a:solidFill>
              </a:rPr>
              <a:t>Yêu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cầu</a:t>
            </a:r>
            <a:r>
              <a:rPr b="1" dirty="0">
                <a:solidFill>
                  <a:srgbClr val="00B050"/>
                </a:solidFill>
              </a:rPr>
              <a:t>: </a:t>
            </a:r>
            <a:r>
              <a:rPr dirty="0" err="1">
                <a:solidFill>
                  <a:srgbClr val="00B050"/>
                </a:solidFill>
              </a:rPr>
              <a:t>Mã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nguồn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phải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hỗ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trợ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giả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lập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dữ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liệu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biên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mà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không</a:t>
            </a:r>
            <a:r>
              <a:rPr dirty="0">
                <a:solidFill>
                  <a:srgbClr val="00B050"/>
                </a:solidFill>
              </a:rPr>
              <a:t> can </a:t>
            </a:r>
            <a:r>
              <a:rPr dirty="0" err="1">
                <a:solidFill>
                  <a:srgbClr val="00B050"/>
                </a:solidFill>
              </a:rPr>
              <a:t>thiệp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trực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tiếp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vào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môi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trường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vật</a:t>
            </a:r>
            <a:r>
              <a:rPr dirty="0">
                <a:solidFill>
                  <a:srgbClr val="00B050"/>
                </a:solidFill>
              </a:rPr>
              <a:t> </a:t>
            </a:r>
            <a:r>
              <a:rPr dirty="0" err="1">
                <a:solidFill>
                  <a:srgbClr val="00B050"/>
                </a:solidFill>
              </a:rPr>
              <a:t>lý</a:t>
            </a:r>
            <a:r>
              <a:rPr dirty="0">
                <a:solidFill>
                  <a:srgbClr val="00B050"/>
                </a:solidFill>
              </a:rPr>
              <a:t> (I/O, Database).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A78BFA"/>
                </a:solidFill>
                <a:latin typeface="Arial"/>
              </a:defRPr>
            </a:pPr>
            <a:r>
              <a:t>Khả năng Quan sát (Observability)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487649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 b="0">
                <a:solidFill>
                  <a:srgbClr val="C8C8C8"/>
                </a:solidFill>
                <a:latin typeface="Arial"/>
              </a:defRPr>
            </a:pPr>
            <a:r>
              <a:rPr dirty="0" err="1"/>
              <a:t>Mức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phơi</a:t>
            </a:r>
            <a:r>
              <a:rPr dirty="0"/>
              <a:t> </a:t>
            </a:r>
            <a:r>
              <a:rPr dirty="0" err="1"/>
              <a:t>bày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đầu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bên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b="1" dirty="0" err="1">
                <a:solidFill>
                  <a:srgbClr val="00B050"/>
                </a:solidFill>
              </a:rPr>
              <a:t>Yêu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cầu</a:t>
            </a:r>
            <a:r>
              <a:rPr b="1" dirty="0">
                <a:solidFill>
                  <a:srgbClr val="00B050"/>
                </a:solidFill>
              </a:rPr>
              <a:t>: </a:t>
            </a:r>
            <a:r>
              <a:rPr b="1" dirty="0" err="1">
                <a:solidFill>
                  <a:srgbClr val="00B050"/>
                </a:solidFill>
              </a:rPr>
              <a:t>Kết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quả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phải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được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trả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về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tường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minh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nhằm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tạo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cơ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sở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cho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việc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đối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chiếu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và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xác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minh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tính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đúng</a:t>
            </a:r>
            <a:r>
              <a:rPr b="1" dirty="0">
                <a:solidFill>
                  <a:srgbClr val="00B050"/>
                </a:solidFill>
              </a:rPr>
              <a:t> </a:t>
            </a:r>
            <a:r>
              <a:rPr b="1" dirty="0" err="1">
                <a:solidFill>
                  <a:srgbClr val="00B050"/>
                </a:solidFill>
              </a:rPr>
              <a:t>đắn</a:t>
            </a:r>
            <a:r>
              <a:rPr b="1" dirty="0">
                <a:solidFill>
                  <a:srgbClr val="00B050"/>
                </a:solidFill>
              </a:rPr>
              <a:t> (Assertion).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820095" cy="1143000"/>
          </a:xfrm>
        </p:spPr>
        <p:txBody>
          <a:bodyPr>
            <a:noAutofit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sz="4000" dirty="0">
                <a:solidFill>
                  <a:srgbClr val="7030A0"/>
                </a:solidFill>
              </a:rPr>
              <a:t>3. Công </a:t>
            </a:r>
            <a:r>
              <a:rPr sz="4000" dirty="0" err="1">
                <a:solidFill>
                  <a:srgbClr val="7030A0"/>
                </a:solidFill>
              </a:rPr>
              <a:t>Cụ</a:t>
            </a:r>
            <a:r>
              <a:rPr sz="4000" dirty="0">
                <a:solidFill>
                  <a:srgbClr val="7030A0"/>
                </a:solidFill>
              </a:rPr>
              <a:t> </a:t>
            </a:r>
            <a:r>
              <a:rPr sz="4000" dirty="0" err="1">
                <a:solidFill>
                  <a:srgbClr val="7030A0"/>
                </a:solidFill>
              </a:rPr>
              <a:t>Đánh</a:t>
            </a:r>
            <a:r>
              <a:rPr sz="4000" dirty="0">
                <a:solidFill>
                  <a:srgbClr val="7030A0"/>
                </a:solidFill>
              </a:rPr>
              <a:t> </a:t>
            </a:r>
            <a:r>
              <a:rPr sz="4000" dirty="0" err="1">
                <a:solidFill>
                  <a:srgbClr val="7030A0"/>
                </a:solidFill>
              </a:rPr>
              <a:t>Giá</a:t>
            </a:r>
            <a:r>
              <a:rPr sz="4000" dirty="0">
                <a:solidFill>
                  <a:srgbClr val="7030A0"/>
                </a:solidFill>
              </a:rPr>
              <a:t>: </a:t>
            </a:r>
            <a:r>
              <a:rPr sz="4000" dirty="0" err="1"/>
              <a:t>Bộ</a:t>
            </a:r>
            <a:r>
              <a:rPr sz="4000" dirty="0"/>
              <a:t> </a:t>
            </a:r>
            <a:r>
              <a:rPr sz="4000" dirty="0" err="1"/>
              <a:t>Đo</a:t>
            </a:r>
            <a:r>
              <a:rPr sz="4000" dirty="0"/>
              <a:t> </a:t>
            </a:r>
            <a:r>
              <a:rPr sz="4000" dirty="0" err="1"/>
              <a:t>Lường</a:t>
            </a:r>
            <a:r>
              <a:rPr sz="4000" dirty="0"/>
              <a:t> Tĩnh Radon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200" b="0">
                <a:solidFill>
                  <a:srgbClr val="F8FAFC"/>
                </a:solidFill>
                <a:latin typeface="Arial"/>
              </a:defRPr>
            </a:pPr>
            <a:r>
              <a:t>Radon là thư viện phân tích cú pháp tĩnh (Static Code Analysis) tiêu chuẩn trong hệ sinh thái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• Độ phức tạp rẽ nhánh (Cyclomatic Complexity - CC):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    - Đo lường số lượng các đường dẫn thực thi độc lập (if, else, for).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    - Chỉ số rẽ nhánh càng cao, nỗ lực kiểm thử để đạt độ bao phủ toàn diện càng lớn.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• Chiều sâu cây kế thừa (DIT):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    - Cấu trúc phân cấp kế thừa quá sâu làm suy giảm khả năng theo dõi luồng hành vi của đối tượng gốc.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972800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4. </a:t>
            </a:r>
            <a:r>
              <a:rPr dirty="0" err="1">
                <a:solidFill>
                  <a:srgbClr val="FF0000"/>
                </a:solidFill>
              </a:rPr>
              <a:t>Phân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Tích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Thực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Trạng</a:t>
            </a:r>
            <a:r>
              <a:rPr dirty="0">
                <a:solidFill>
                  <a:srgbClr val="FF0000"/>
                </a:solidFill>
              </a:rPr>
              <a:t>: </a:t>
            </a:r>
            <a:r>
              <a:rPr dirty="0" err="1"/>
              <a:t>Dấu</a:t>
            </a:r>
            <a:r>
              <a:rPr dirty="0"/>
              <a:t> Hiệu God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6666" y="1386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1">
                <a:solidFill>
                  <a:srgbClr val="F87171"/>
                </a:solidFill>
                <a:latin typeface="Arial"/>
              </a:defRPr>
            </a:pP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1: </a:t>
            </a: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thuộc</a:t>
            </a:r>
            <a:r>
              <a:rPr dirty="0"/>
              <a:t> I/O </a:t>
            </a:r>
            <a:r>
              <a:rPr dirty="0" err="1"/>
              <a:t>cứng</a:t>
            </a:r>
            <a:r>
              <a:rPr dirty="0"/>
              <a:t> (Tight Coupling)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666" y="2269066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800" b="0">
                <a:solidFill>
                  <a:srgbClr val="C8C8C8"/>
                </a:solidFill>
                <a:latin typeface="Arial"/>
              </a:defRPr>
            </a:pPr>
            <a:r>
              <a:rPr dirty="0"/>
              <a:t>Phương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process_order</a:t>
            </a:r>
            <a:r>
              <a:rPr dirty="0"/>
              <a:t>()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gọi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CSDL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(</a:t>
            </a:r>
            <a:r>
              <a:rPr dirty="0" err="1"/>
              <a:t>SqlDatabase</a:t>
            </a:r>
            <a:r>
              <a:rPr dirty="0"/>
              <a:t>).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bắt</a:t>
            </a:r>
            <a:r>
              <a:rPr dirty="0"/>
              <a:t> </a:t>
            </a:r>
            <a:r>
              <a:rPr dirty="0" err="1"/>
              <a:t>buộc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I/O </a:t>
            </a:r>
            <a:r>
              <a:rPr dirty="0" err="1"/>
              <a:t>gây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nghẽn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6666" y="352755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1">
                <a:solidFill>
                  <a:srgbClr val="F87171"/>
                </a:solidFill>
                <a:latin typeface="Arial"/>
              </a:defRPr>
            </a:pP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2: </a:t>
            </a:r>
            <a:r>
              <a:rPr dirty="0" err="1"/>
              <a:t>Lồng</a:t>
            </a:r>
            <a:r>
              <a:rPr dirty="0"/>
              <a:t> </a:t>
            </a:r>
            <a:r>
              <a:rPr dirty="0" err="1"/>
              <a:t>ghép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logic (High Complexity)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666" y="4328849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800" b="0">
                <a:solidFill>
                  <a:srgbClr val="C8C8C8"/>
                </a:solidFill>
                <a:latin typeface="Arial"/>
              </a:defRPr>
            </a:pP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(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thuế</a:t>
            </a:r>
            <a:r>
              <a:rPr dirty="0"/>
              <a:t>,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) </a:t>
            </a:r>
            <a:r>
              <a:rPr dirty="0" err="1"/>
              <a:t>vào</a:t>
            </a:r>
            <a:r>
              <a:rPr dirty="0"/>
              <a:t> </a:t>
            </a:r>
            <a:r>
              <a:rPr dirty="0" err="1"/>
              <a:t>chung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hàm</a:t>
            </a:r>
            <a:r>
              <a:rPr dirty="0"/>
              <a:t>, vi </a:t>
            </a:r>
            <a:r>
              <a:rPr dirty="0" err="1"/>
              <a:t>phạm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Single Responsibility </a:t>
            </a:r>
            <a:r>
              <a:rPr dirty="0" err="1"/>
              <a:t>khiến</a:t>
            </a:r>
            <a:r>
              <a:rPr dirty="0"/>
              <a:t> Cyclomatic Complexity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đột</a:t>
            </a:r>
            <a:r>
              <a:rPr dirty="0"/>
              <a:t> </a:t>
            </a:r>
            <a:r>
              <a:rPr dirty="0" err="1"/>
              <a:t>biến</a:t>
            </a:r>
            <a:r>
              <a:rPr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 b="0">
                <a:solidFill>
                  <a:srgbClr val="A7F3D0"/>
                </a:solidFill>
                <a:latin typeface="Arial"/>
              </a:defRPr>
            </a:pPr>
            <a:r>
              <a:rPr dirty="0"/>
              <a:t>class </a:t>
            </a:r>
            <a:r>
              <a:rPr dirty="0" err="1"/>
              <a:t>LegacyOrderProcessor</a:t>
            </a:r>
            <a:r>
              <a:rPr dirty="0"/>
              <a:t>:</a:t>
            </a:r>
            <a:br>
              <a:rPr dirty="0"/>
            </a:br>
            <a:r>
              <a:rPr dirty="0"/>
              <a:t>    def </a:t>
            </a:r>
            <a:r>
              <a:rPr dirty="0" err="1"/>
              <a:t>process_order</a:t>
            </a:r>
            <a:r>
              <a:rPr dirty="0"/>
              <a:t>(self, </a:t>
            </a:r>
            <a:r>
              <a:rPr dirty="0" err="1"/>
              <a:t>order_id</a:t>
            </a:r>
            <a:r>
              <a:rPr dirty="0"/>
              <a:t>):</a:t>
            </a:r>
            <a:br>
              <a:rPr dirty="0"/>
            </a:br>
            <a:r>
              <a:rPr dirty="0"/>
              <a:t>        #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CSDL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db</a:t>
            </a:r>
            <a:r>
              <a:rPr dirty="0"/>
              <a:t> = </a:t>
            </a:r>
            <a:r>
              <a:rPr dirty="0" err="1"/>
              <a:t>SqlDatabaseConnection</a:t>
            </a:r>
            <a:r>
              <a:rPr dirty="0"/>
              <a:t>() </a:t>
            </a:r>
            <a:br>
              <a:rPr dirty="0"/>
            </a:br>
            <a:r>
              <a:rPr dirty="0"/>
              <a:t>        customer = </a:t>
            </a:r>
            <a:r>
              <a:rPr dirty="0" err="1"/>
              <a:t>db.fetch_customer</a:t>
            </a:r>
            <a:r>
              <a:rPr dirty="0"/>
              <a:t>(</a:t>
            </a:r>
            <a:r>
              <a:rPr dirty="0" err="1"/>
              <a:t>order_id</a:t>
            </a:r>
            <a:r>
              <a:rPr dirty="0"/>
              <a:t>)</a:t>
            </a:r>
            <a:br>
              <a:rPr dirty="0"/>
            </a:br>
            <a:r>
              <a:rPr dirty="0"/>
              <a:t>        </a:t>
            </a:r>
            <a:br>
              <a:rPr dirty="0"/>
            </a:br>
            <a:r>
              <a:rPr dirty="0"/>
              <a:t>        #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rẽ</a:t>
            </a:r>
            <a:r>
              <a:rPr dirty="0"/>
              <a:t> </a:t>
            </a:r>
            <a:r>
              <a:rPr dirty="0" err="1"/>
              <a:t>nhánh</a:t>
            </a:r>
            <a:r>
              <a:rPr dirty="0"/>
              <a:t> </a:t>
            </a:r>
            <a:r>
              <a:rPr dirty="0" err="1"/>
              <a:t>phức</a:t>
            </a:r>
            <a:r>
              <a:rPr dirty="0"/>
              <a:t> </a:t>
            </a:r>
            <a:r>
              <a:rPr dirty="0" err="1"/>
              <a:t>hợp</a:t>
            </a:r>
            <a:br>
              <a:rPr dirty="0"/>
            </a:br>
            <a:r>
              <a:rPr dirty="0"/>
              <a:t>        if </a:t>
            </a:r>
            <a:r>
              <a:rPr dirty="0" err="1"/>
              <a:t>customer.is_vip</a:t>
            </a:r>
            <a:r>
              <a:rPr dirty="0"/>
              <a:t>:</a:t>
            </a:r>
            <a:br>
              <a:rPr dirty="0"/>
            </a:br>
            <a:r>
              <a:rPr dirty="0"/>
              <a:t>            if total &gt; 1000:</a:t>
            </a:r>
            <a:br>
              <a:rPr dirty="0"/>
            </a:br>
            <a:r>
              <a:rPr dirty="0"/>
              <a:t>                ...</a:t>
            </a:r>
            <a:br>
              <a:rPr dirty="0"/>
            </a:br>
            <a:r>
              <a:rPr dirty="0"/>
              <a:t>        else:</a:t>
            </a:r>
            <a:br>
              <a:rPr dirty="0"/>
            </a:br>
            <a:r>
              <a:rPr dirty="0"/>
              <a:t>            ...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896600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5. DEMO 1: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Trúc Ban </a:t>
            </a:r>
            <a:r>
              <a:rPr dirty="0" err="1"/>
              <a:t>Đầu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399" y="154093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C8C8C8"/>
                </a:solidFill>
                <a:latin typeface="Arial"/>
              </a:defRPr>
            </a:pPr>
            <a:r>
              <a:t>Tiến hành chạy Unit Test và đo lường tĩnh để kiểm chứng sự phụ thuộc vật lý.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8" y="2309019"/>
            <a:ext cx="1036289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 b="0">
                <a:solidFill>
                  <a:srgbClr val="F87171"/>
                </a:solidFill>
                <a:latin typeface="Arial"/>
              </a:defRPr>
            </a:pPr>
            <a:r>
              <a:rPr dirty="0"/>
              <a:t>&gt; .\</a:t>
            </a:r>
            <a:r>
              <a:rPr dirty="0" err="1"/>
              <a:t>venv</a:t>
            </a:r>
            <a:r>
              <a:rPr dirty="0"/>
              <a:t>\Scripts\</a:t>
            </a:r>
            <a:r>
              <a:rPr dirty="0" err="1"/>
              <a:t>pytest</a:t>
            </a:r>
            <a:r>
              <a:rPr dirty="0"/>
              <a:t> tests/test_dirty_code.py -v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92D050"/>
                </a:solidFill>
              </a:rPr>
              <a:t># </a:t>
            </a:r>
            <a:r>
              <a:rPr dirty="0" err="1">
                <a:solidFill>
                  <a:srgbClr val="92D050"/>
                </a:solidFill>
              </a:rPr>
              <a:t>Đợi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kết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quả</a:t>
            </a:r>
            <a:r>
              <a:rPr dirty="0">
                <a:solidFill>
                  <a:srgbClr val="92D050"/>
                </a:solidFill>
              </a:rPr>
              <a:t>: Execution Time ~ 1.52s (</a:t>
            </a:r>
            <a:r>
              <a:rPr dirty="0" err="1">
                <a:solidFill>
                  <a:srgbClr val="92D050"/>
                </a:solidFill>
              </a:rPr>
              <a:t>Tắc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nghẽn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tại</a:t>
            </a:r>
            <a:r>
              <a:rPr dirty="0">
                <a:solidFill>
                  <a:srgbClr val="92D050"/>
                </a:solidFill>
              </a:rPr>
              <a:t> I/O)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45467"/>
            <a:ext cx="1036289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 b="0">
                <a:solidFill>
                  <a:srgbClr val="F87171"/>
                </a:solidFill>
                <a:latin typeface="Arial"/>
              </a:defRPr>
            </a:pPr>
            <a:r>
              <a:rPr dirty="0"/>
              <a:t>&gt; .\</a:t>
            </a:r>
            <a:r>
              <a:rPr dirty="0" err="1"/>
              <a:t>venv</a:t>
            </a:r>
            <a:r>
              <a:rPr dirty="0"/>
              <a:t>\Scripts\radon cc 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dirty_code</a:t>
            </a:r>
            <a:r>
              <a:rPr dirty="0"/>
              <a:t>/ -s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92D050"/>
                </a:solidFill>
              </a:rPr>
              <a:t># </a:t>
            </a:r>
            <a:r>
              <a:rPr dirty="0" err="1">
                <a:solidFill>
                  <a:srgbClr val="92D050"/>
                </a:solidFill>
              </a:rPr>
              <a:t>Đợi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kết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quả</a:t>
            </a:r>
            <a:r>
              <a:rPr dirty="0">
                <a:solidFill>
                  <a:srgbClr val="92D050"/>
                </a:solidFill>
              </a:rPr>
              <a:t>: </a:t>
            </a:r>
            <a:r>
              <a:rPr dirty="0" err="1">
                <a:solidFill>
                  <a:srgbClr val="92D050"/>
                </a:solidFill>
              </a:rPr>
              <a:t>Xếp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hạng</a:t>
            </a:r>
            <a:r>
              <a:rPr dirty="0">
                <a:solidFill>
                  <a:srgbClr val="92D050"/>
                </a:solidFill>
              </a:rPr>
              <a:t> C (</a:t>
            </a:r>
            <a:r>
              <a:rPr dirty="0" err="1">
                <a:solidFill>
                  <a:srgbClr val="92D050"/>
                </a:solidFill>
              </a:rPr>
              <a:t>Cảnh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báo</a:t>
            </a:r>
            <a:r>
              <a:rPr dirty="0">
                <a:solidFill>
                  <a:srgbClr val="92D050"/>
                </a:solidFill>
              </a:rPr>
              <a:t>: </a:t>
            </a:r>
            <a:r>
              <a:rPr dirty="0" err="1">
                <a:solidFill>
                  <a:srgbClr val="92D050"/>
                </a:solidFill>
              </a:rPr>
              <a:t>Cấu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trúc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điều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khiển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phức</a:t>
            </a:r>
            <a:r>
              <a:rPr dirty="0">
                <a:solidFill>
                  <a:srgbClr val="92D050"/>
                </a:solidFill>
              </a:rPr>
              <a:t> </a:t>
            </a:r>
            <a:r>
              <a:rPr dirty="0" err="1">
                <a:solidFill>
                  <a:srgbClr val="92D050"/>
                </a:solidFill>
              </a:rPr>
              <a:t>tạp</a:t>
            </a:r>
            <a:r>
              <a:rPr dirty="0">
                <a:solidFill>
                  <a:srgbClr val="92D050"/>
                </a:solidFill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515600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00B050"/>
                </a:solidFill>
              </a:rPr>
              <a:t>6. </a:t>
            </a:r>
            <a:r>
              <a:rPr dirty="0" err="1">
                <a:solidFill>
                  <a:srgbClr val="00B050"/>
                </a:solidFill>
              </a:rPr>
              <a:t>Giải</a:t>
            </a:r>
            <a:r>
              <a:rPr dirty="0">
                <a:solidFill>
                  <a:srgbClr val="00B050"/>
                </a:solidFill>
              </a:rPr>
              <a:t> Pháp </a:t>
            </a:r>
            <a:r>
              <a:rPr dirty="0" err="1">
                <a:solidFill>
                  <a:srgbClr val="00B050"/>
                </a:solidFill>
              </a:rPr>
              <a:t>Lõi</a:t>
            </a:r>
            <a:r>
              <a:rPr dirty="0">
                <a:solidFill>
                  <a:srgbClr val="00B050"/>
                </a:solidFill>
              </a:rPr>
              <a:t>: </a:t>
            </a:r>
            <a:r>
              <a:rPr dirty="0"/>
              <a:t>Quy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TsDD</a:t>
            </a:r>
            <a:r>
              <a:rPr dirty="0"/>
              <a:t> (Testability-Driven Dev)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F87171"/>
                </a:solidFill>
                <a:latin typeface="Arial"/>
              </a:defRPr>
            </a:pPr>
            <a:r>
              <a:t>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Xây dựng kịch bản kiểm thử mô phỏng yêu cầu hệ thống ban đầu.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400" b="1">
                <a:solidFill>
                  <a:srgbClr val="38BDF8"/>
                </a:solidFill>
                <a:latin typeface="Arial"/>
              </a:defRPr>
            </a:pPr>
            <a:r>
              <a:rPr dirty="0"/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926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Bước Cải tiến: Đánh giá và giới hạn chỉ số tĩnh (Static Metrics) trước khi biên dịch mã nguồn.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4ADE80"/>
                </a:solidFill>
                <a:latin typeface="Arial"/>
              </a:defRPr>
            </a:pPr>
            <a: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0233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Phát triển chức năng thỏa mãn điều kiện Unit Test nội bộ.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A78BFA"/>
                </a:solidFill>
                <a:latin typeface="Arial"/>
              </a:defRPr>
            </a:pPr>
            <a:r>
              <a:t>Refactor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E2E8F0"/>
                </a:solidFill>
                <a:latin typeface="Arial"/>
              </a:defRPr>
            </a:pPr>
            <a:r>
              <a:t>Cấu trúc lại đối tượng để tối ưu hiệu suất mô phỏng.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515601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00B0F0"/>
                </a:solidFill>
              </a:rPr>
              <a:t>7. </a:t>
            </a:r>
            <a:r>
              <a:rPr dirty="0" err="1">
                <a:solidFill>
                  <a:srgbClr val="00B0F0"/>
                </a:solidFill>
              </a:rPr>
              <a:t>Kỹ</a:t>
            </a:r>
            <a:r>
              <a:rPr dirty="0">
                <a:solidFill>
                  <a:srgbClr val="00B0F0"/>
                </a:solidFill>
              </a:rPr>
              <a:t> </a:t>
            </a:r>
            <a:r>
              <a:rPr dirty="0" err="1">
                <a:solidFill>
                  <a:srgbClr val="00B0F0"/>
                </a:solidFill>
              </a:rPr>
              <a:t>Thuật</a:t>
            </a:r>
            <a:r>
              <a:rPr dirty="0">
                <a:solidFill>
                  <a:srgbClr val="00B0F0"/>
                </a:solidFill>
              </a:rPr>
              <a:t> Tái </a:t>
            </a:r>
            <a:r>
              <a:rPr dirty="0" err="1">
                <a:solidFill>
                  <a:srgbClr val="00B0F0"/>
                </a:solidFill>
              </a:rPr>
              <a:t>Cấu</a:t>
            </a:r>
            <a:r>
              <a:rPr dirty="0">
                <a:solidFill>
                  <a:srgbClr val="00B0F0"/>
                </a:solidFill>
              </a:rPr>
              <a:t> Trúc: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Mẫu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38BDF8"/>
                </a:solidFill>
                <a:latin typeface="Arial"/>
              </a:defRPr>
            </a:pPr>
            <a:r>
              <a:t>1. Repository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just">
              <a:defRPr sz="1800" b="0">
                <a:solidFill>
                  <a:srgbClr val="C8C8C8"/>
                </a:solidFill>
                <a:latin typeface="Arial"/>
              </a:defRPr>
            </a:pP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Giao </a:t>
            </a:r>
            <a:r>
              <a:rPr dirty="0" err="1"/>
              <a:t>diện</a:t>
            </a:r>
            <a:r>
              <a:rPr dirty="0"/>
              <a:t> (Interface </a:t>
            </a:r>
            <a:r>
              <a:rPr dirty="0" err="1"/>
              <a:t>ICustomerRepository</a:t>
            </a:r>
            <a:r>
              <a:rPr dirty="0"/>
              <a:t>) </a:t>
            </a:r>
            <a:r>
              <a:rPr dirty="0" err="1"/>
              <a:t>nhằm</a:t>
            </a:r>
            <a:r>
              <a:rPr dirty="0"/>
              <a:t> </a:t>
            </a:r>
            <a:r>
              <a:rPr dirty="0" err="1"/>
              <a:t>trừu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(</a:t>
            </a:r>
            <a:r>
              <a:rPr dirty="0" err="1"/>
              <a:t>Tạo</a:t>
            </a:r>
            <a:r>
              <a:rPr dirty="0"/>
              <a:t> Seam).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400" b="1">
                <a:solidFill>
                  <a:srgbClr val="38BDF8"/>
                </a:solidFill>
                <a:latin typeface="Arial"/>
              </a:defRPr>
            </a:pPr>
            <a:r>
              <a:t>2. Dependency Injection (DI)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77440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just">
              <a:defRPr sz="1800" b="0">
                <a:solidFill>
                  <a:srgbClr val="C8C8C8"/>
                </a:solidFill>
                <a:latin typeface="Arial"/>
              </a:defRPr>
            </a:pPr>
            <a:r>
              <a:rPr dirty="0"/>
              <a:t>Trao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khởi</a:t>
            </a:r>
            <a:r>
              <a:rPr dirty="0"/>
              <a:t> </a:t>
            </a:r>
            <a:r>
              <a:rPr dirty="0" err="1"/>
              <a:t>tạo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qua Constructor. Khai </a:t>
            </a:r>
            <a:r>
              <a:rPr dirty="0" err="1"/>
              <a:t>phóng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thế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tượng</a:t>
            </a:r>
            <a:r>
              <a:rPr dirty="0"/>
              <a:t> </a:t>
            </a: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(Test Stub).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1148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2400" b="1">
                <a:solidFill>
                  <a:srgbClr val="38BDF8"/>
                </a:solidFill>
                <a:latin typeface="Arial"/>
              </a:defRPr>
            </a:pPr>
            <a:r>
              <a:t>3. Strategy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663440"/>
            <a:ext cx="67052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just">
              <a:defRPr sz="1800" b="0">
                <a:solidFill>
                  <a:srgbClr val="C8C8C8"/>
                </a:solidFill>
                <a:latin typeface="Arial"/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khối</a:t>
            </a:r>
            <a:r>
              <a:rPr dirty="0"/>
              <a:t> </a:t>
            </a:r>
            <a:r>
              <a:rPr dirty="0" err="1"/>
              <a:t>rẽ</a:t>
            </a:r>
            <a:r>
              <a:rPr dirty="0"/>
              <a:t> </a:t>
            </a:r>
            <a:r>
              <a:rPr dirty="0" err="1"/>
              <a:t>nhánh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kiện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đa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. </a:t>
            </a:r>
            <a:r>
              <a:rPr dirty="0" err="1"/>
              <a:t>Triệt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God Object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nguyên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nhiệm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820400" cy="1143000"/>
          </a:xfrm>
        </p:spPr>
        <p:txBody>
          <a:bodyPr>
            <a:normAutofit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00B0F0"/>
                </a:solidFill>
              </a:rPr>
              <a:t>TRƯỚC VÀ SAU KHI TÁI CẤU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1">
                <a:solidFill>
                  <a:srgbClr val="F87171"/>
                </a:solidFill>
                <a:latin typeface="Arial"/>
              </a:defRPr>
            </a:pPr>
            <a:r>
              <a:t>TRƯỚC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600" b="0">
                <a:solidFill>
                  <a:srgbClr val="C8C8C8"/>
                </a:solidFill>
                <a:latin typeface="Arial"/>
              </a:defRPr>
            </a:pPr>
            <a:r>
              <a:t>def process_order(self, payload):</a:t>
            </a:r>
            <a:br/>
            <a:r>
              <a:t>    # Khởi tạo CSDL cứng ngắc trong hàm</a:t>
            </a:r>
            <a:br/>
            <a:r>
              <a:t>    db = SqlDatabase() </a:t>
            </a:r>
            <a:br/>
            <a:r>
              <a:t>    customer = db.fetch_customer(id)</a:t>
            </a:r>
            <a:br/>
            <a:r>
              <a:t>    </a:t>
            </a:r>
            <a:br/>
            <a:r>
              <a:t>    # Logic kiểm tra lồng ghép</a:t>
            </a:r>
            <a:br/>
            <a:r>
              <a:t>    if customer.is_vip:</a:t>
            </a:r>
            <a:br/>
            <a:r>
              <a:t>        total -= 0.15</a:t>
            </a:r>
            <a:br/>
            <a:r>
              <a:t>    elif payload.code == "WELCOME5":</a:t>
            </a:r>
            <a:br/>
            <a:r>
              <a:t>        total -= 0.05</a:t>
            </a:r>
            <a:br/>
            <a:r>
              <a:t>    return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1">
                <a:solidFill>
                  <a:srgbClr val="4ADE80"/>
                </a:solidFill>
                <a:latin typeface="Arial"/>
              </a:defRPr>
            </a:pPr>
            <a:r>
              <a:t>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600" b="0">
                <a:solidFill>
                  <a:srgbClr val="C8C8C8"/>
                </a:solidFill>
                <a:latin typeface="Arial"/>
              </a:defRPr>
            </a:pPr>
            <a:r>
              <a:t>class CleanOrderProcessor:</a:t>
            </a:r>
            <a:br/>
            <a:r>
              <a:t>    # 1. Khai báo Dependency Injection </a:t>
            </a:r>
            <a:br/>
            <a:r>
              <a:t>    def __init__(self, repo: ICustomerRepository):</a:t>
            </a:r>
            <a:br/>
            <a:r>
              <a:t>        self.repo = repo</a:t>
            </a:r>
            <a:br/>
            <a:r>
              <a:t>        </a:t>
            </a:r>
            <a:br/>
            <a:r>
              <a:t>    def process_order(self, payload):</a:t>
            </a:r>
            <a:br/>
            <a:r>
              <a:t>        # 2. Xử lý logic độc lập không chạm I/O vật lý</a:t>
            </a:r>
            <a:br/>
            <a:r>
              <a:t>        customer = self.repo.fetch_customer(payload.id)</a:t>
            </a:r>
            <a:br/>
            <a:r>
              <a:t>        </a:t>
            </a:r>
            <a:br/>
            <a:r>
              <a:t>        # 3. Phân tách rẽ nhánh bằng Strategy Pattern</a:t>
            </a:r>
            <a:br/>
            <a:r>
              <a:t>        strategy = self._get_discount(customer)</a:t>
            </a:r>
            <a:br/>
            <a:r>
              <a:t>        return strategy.apply(total)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820095" cy="1143000"/>
          </a:xfrm>
        </p:spPr>
        <p:txBody>
          <a:bodyPr>
            <a:normAutofit fontScale="90000"/>
          </a:bodyPr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rgbClr val="00B050"/>
                </a:solidFill>
              </a:rPr>
              <a:t>8. DEMO 2: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Chứng</a:t>
            </a:r>
            <a:r>
              <a:rPr dirty="0"/>
              <a:t> 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Sau Tái </a:t>
            </a:r>
            <a:r>
              <a:rPr dirty="0" err="1"/>
              <a:t>Cấu</a:t>
            </a:r>
            <a:r>
              <a:rPr dirty="0"/>
              <a:t>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 b="0">
                <a:solidFill>
                  <a:srgbClr val="C8C8C8"/>
                </a:solidFill>
                <a:latin typeface="Arial"/>
              </a:defRPr>
            </a:pP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Unit Test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môi</a:t>
            </a:r>
            <a:r>
              <a:rPr dirty="0"/>
              <a:t> </a:t>
            </a:r>
            <a:r>
              <a:rPr dirty="0" err="1"/>
              <a:t>trường</a:t>
            </a:r>
            <a:r>
              <a:rPr dirty="0"/>
              <a:t> </a:t>
            </a:r>
            <a:r>
              <a:rPr dirty="0" err="1"/>
              <a:t>giả</a:t>
            </a:r>
            <a:r>
              <a:rPr dirty="0"/>
              <a:t> </a:t>
            </a:r>
            <a:r>
              <a:rPr dirty="0" err="1"/>
              <a:t>lập</a:t>
            </a:r>
            <a:r>
              <a:rPr dirty="0"/>
              <a:t> RAM (In-Memory)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 </a:t>
            </a:r>
            <a:r>
              <a:rPr dirty="0" err="1"/>
              <a:t>lường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000" b="0">
                <a:solidFill>
                  <a:srgbClr val="4ADE80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&gt; .\</a:t>
            </a:r>
            <a:r>
              <a:rPr dirty="0" err="1">
                <a:solidFill>
                  <a:srgbClr val="FF0000"/>
                </a:solidFill>
              </a:rPr>
              <a:t>venv</a:t>
            </a:r>
            <a:r>
              <a:rPr dirty="0">
                <a:solidFill>
                  <a:srgbClr val="FF0000"/>
                </a:solidFill>
              </a:rPr>
              <a:t>\Scripts\</a:t>
            </a:r>
            <a:r>
              <a:rPr dirty="0" err="1">
                <a:solidFill>
                  <a:srgbClr val="FF0000"/>
                </a:solidFill>
              </a:rPr>
              <a:t>pytest</a:t>
            </a:r>
            <a:r>
              <a:rPr dirty="0">
                <a:solidFill>
                  <a:srgbClr val="FF0000"/>
                </a:solidFill>
              </a:rPr>
              <a:t> tests/test_clean_code.py -v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Đợi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: Execution Time ~ 0.001s (PASSED)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rgbClr val="FF0000"/>
              </a:solidFill>
            </a:endParaRPr>
          </a:p>
          <a:p>
            <a:pPr algn="l">
              <a:defRPr sz="2000" b="0">
                <a:solidFill>
                  <a:srgbClr val="4ADE80"/>
                </a:solidFill>
                <a:latin typeface="Arial"/>
              </a:defRPr>
            </a:pPr>
            <a:r>
              <a:rPr dirty="0">
                <a:solidFill>
                  <a:srgbClr val="FF0000"/>
                </a:solidFill>
              </a:rPr>
              <a:t>&gt; .\</a:t>
            </a:r>
            <a:r>
              <a:rPr dirty="0" err="1">
                <a:solidFill>
                  <a:srgbClr val="FF0000"/>
                </a:solidFill>
              </a:rPr>
              <a:t>venv</a:t>
            </a:r>
            <a:r>
              <a:rPr dirty="0">
                <a:solidFill>
                  <a:srgbClr val="FF0000"/>
                </a:solidFill>
              </a:rPr>
              <a:t>\Scripts\radon cc </a:t>
            </a:r>
            <a:r>
              <a:rPr dirty="0" err="1">
                <a:solidFill>
                  <a:srgbClr val="FF0000"/>
                </a:solidFill>
              </a:rPr>
              <a:t>src</a:t>
            </a:r>
            <a:r>
              <a:rPr dirty="0">
                <a:solidFill>
                  <a:srgbClr val="FF0000"/>
                </a:solidFill>
              </a:rPr>
              <a:t>/</a:t>
            </a:r>
            <a:r>
              <a:rPr dirty="0" err="1">
                <a:solidFill>
                  <a:srgbClr val="FF0000"/>
                </a:solidFill>
              </a:rPr>
              <a:t>clean_code</a:t>
            </a:r>
            <a:r>
              <a:rPr dirty="0">
                <a:solidFill>
                  <a:srgbClr val="FF0000"/>
                </a:solidFill>
              </a:rPr>
              <a:t>/ -s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Đợi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: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hạng</a:t>
            </a:r>
            <a:r>
              <a:rPr dirty="0"/>
              <a:t> A (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điều</a:t>
            </a:r>
            <a:r>
              <a:rPr dirty="0"/>
              <a:t> </a:t>
            </a:r>
            <a:r>
              <a:rPr dirty="0" err="1"/>
              <a:t>khiển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accent4"/>
                </a:solidFill>
              </a:rPr>
              <a:t>9. So </a:t>
            </a:r>
            <a:r>
              <a:rPr dirty="0" err="1">
                <a:solidFill>
                  <a:schemeClr val="accent4"/>
                </a:solidFill>
              </a:rPr>
              <a:t>Sánh</a:t>
            </a:r>
            <a:r>
              <a:rPr dirty="0">
                <a:solidFill>
                  <a:schemeClr val="accent4"/>
                </a:solidFill>
              </a:rPr>
              <a:t> &amp; </a:t>
            </a:r>
            <a:r>
              <a:rPr dirty="0" err="1">
                <a:solidFill>
                  <a:schemeClr val="accent4"/>
                </a:solidFill>
              </a:rPr>
              <a:t>Đánh</a:t>
            </a:r>
            <a:r>
              <a:rPr dirty="0">
                <a:solidFill>
                  <a:schemeClr val="accent4"/>
                </a:solidFill>
              </a:rPr>
              <a:t> </a:t>
            </a:r>
            <a:r>
              <a:rPr dirty="0" err="1">
                <a:solidFill>
                  <a:schemeClr val="accent4"/>
                </a:solidFill>
              </a:rPr>
              <a:t>Giá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200" b="1">
                <a:solidFill>
                  <a:srgbClr val="F87171"/>
                </a:solidFill>
                <a:latin typeface="Arial"/>
              </a:defRPr>
            </a:pPr>
            <a:r>
              <a:rPr dirty="0"/>
              <a:t>NGUYÊN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2038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000" b="0">
                <a:solidFill>
                  <a:srgbClr val="C8C8C8"/>
                </a:solidFill>
                <a:latin typeface="Arial"/>
              </a:defRPr>
            </a:pPr>
            <a:r>
              <a:rPr dirty="0"/>
              <a:t>1.52s (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Unit Test)</a:t>
            </a:r>
            <a:br>
              <a:rPr dirty="0"/>
            </a:br>
            <a:r>
              <a:rPr dirty="0" err="1"/>
              <a:t>Hạng</a:t>
            </a:r>
            <a:r>
              <a:rPr dirty="0"/>
              <a:t> C (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Radon CC)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200" b="1">
                <a:solidFill>
                  <a:srgbClr val="4ADE80"/>
                </a:solidFill>
                <a:latin typeface="Arial"/>
              </a:defRPr>
            </a:pPr>
            <a:r>
              <a:rPr dirty="0"/>
              <a:t>HIỆN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468562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000" b="0">
                <a:solidFill>
                  <a:srgbClr val="C8C8C8"/>
                </a:solidFill>
                <a:latin typeface="Arial"/>
              </a:defRPr>
            </a:pPr>
            <a:r>
              <a:rPr dirty="0"/>
              <a:t>0.001s (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Unit Test)</a:t>
            </a:r>
            <a:br>
              <a:rPr dirty="0"/>
            </a:br>
            <a:r>
              <a:rPr dirty="0" err="1"/>
              <a:t>Hạng</a:t>
            </a:r>
            <a:r>
              <a:rPr dirty="0"/>
              <a:t> A (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Radon 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4000" b="1">
                <a:solidFill>
                  <a:srgbClr val="38BDF8"/>
                </a:solidFill>
                <a:latin typeface="Arial"/>
              </a:defRPr>
            </a:pPr>
            <a:r>
              <a:rPr sz="2200" dirty="0"/>
              <a:t>~1500x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6856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800" b="0">
                <a:solidFill>
                  <a:srgbClr val="C8C8C8"/>
                </a:solidFill>
                <a:latin typeface="Arial"/>
              </a:defRPr>
            </a:pPr>
            <a:r>
              <a:t>Cải thiện thời gian thực 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800" y="3213319"/>
            <a:ext cx="2590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just">
              <a:defRPr sz="2000" b="0">
                <a:solidFill>
                  <a:srgbClr val="E2E8F0"/>
                </a:solidFill>
                <a:latin typeface="Arial"/>
              </a:defRPr>
            </a:pPr>
            <a:r>
              <a:rPr sz="1300" dirty="0" err="1"/>
              <a:t>Bằng</a:t>
            </a:r>
            <a:r>
              <a:rPr sz="1300" dirty="0"/>
              <a:t> </a:t>
            </a:r>
            <a:r>
              <a:rPr sz="1300" dirty="0" err="1"/>
              <a:t>cách</a:t>
            </a:r>
            <a:r>
              <a:rPr sz="1300" dirty="0"/>
              <a:t> </a:t>
            </a:r>
            <a:r>
              <a:rPr sz="1300" dirty="0" err="1"/>
              <a:t>sử</a:t>
            </a:r>
            <a:r>
              <a:rPr sz="1300" dirty="0"/>
              <a:t> </a:t>
            </a:r>
            <a:r>
              <a:rPr sz="1300" dirty="0" err="1"/>
              <a:t>dụng</a:t>
            </a:r>
            <a:r>
              <a:rPr sz="1300" dirty="0"/>
              <a:t> In-Memory Test Doubles, </a:t>
            </a:r>
            <a:r>
              <a:rPr sz="1300" dirty="0" err="1"/>
              <a:t>cấu</a:t>
            </a:r>
            <a:r>
              <a:rPr sz="1300" dirty="0"/>
              <a:t> </a:t>
            </a:r>
            <a:r>
              <a:rPr sz="1300" dirty="0" err="1"/>
              <a:t>trúc</a:t>
            </a:r>
            <a:r>
              <a:rPr sz="1300" dirty="0"/>
              <a:t> </a:t>
            </a:r>
            <a:r>
              <a:rPr sz="1300" dirty="0" err="1"/>
              <a:t>mới</a:t>
            </a:r>
            <a:r>
              <a:rPr sz="1300" dirty="0"/>
              <a:t> </a:t>
            </a:r>
            <a:r>
              <a:rPr sz="1300" dirty="0" err="1"/>
              <a:t>loại</a:t>
            </a:r>
            <a:r>
              <a:rPr sz="1300" dirty="0"/>
              <a:t> </a:t>
            </a:r>
            <a:r>
              <a:rPr sz="1300" dirty="0" err="1"/>
              <a:t>bỏ</a:t>
            </a:r>
            <a:r>
              <a:rPr sz="1300" dirty="0"/>
              <a:t> </a:t>
            </a:r>
            <a:r>
              <a:rPr sz="1300" dirty="0" err="1"/>
              <a:t>hoàn</a:t>
            </a:r>
            <a:r>
              <a:rPr sz="1300" dirty="0"/>
              <a:t> </a:t>
            </a:r>
            <a:r>
              <a:rPr sz="1300" dirty="0" err="1"/>
              <a:t>toàn</a:t>
            </a:r>
            <a:r>
              <a:rPr sz="1300" dirty="0"/>
              <a:t> chi </a:t>
            </a:r>
            <a:r>
              <a:rPr sz="1300" dirty="0" err="1"/>
              <a:t>phí</a:t>
            </a:r>
            <a:r>
              <a:rPr sz="1300" dirty="0"/>
              <a:t> </a:t>
            </a:r>
            <a:r>
              <a:rPr sz="1300" dirty="0" err="1"/>
              <a:t>chờ</a:t>
            </a:r>
            <a:r>
              <a:rPr sz="1300" dirty="0"/>
              <a:t> I/O </a:t>
            </a:r>
            <a:r>
              <a:rPr sz="1300" dirty="0" err="1"/>
              <a:t>vật</a:t>
            </a:r>
            <a:r>
              <a:rPr sz="1300" dirty="0"/>
              <a:t> </a:t>
            </a:r>
            <a:r>
              <a:rPr sz="1300" dirty="0" err="1"/>
              <a:t>lý</a:t>
            </a:r>
            <a:r>
              <a:rPr sz="13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8" y="685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400" b="1">
                <a:solidFill>
                  <a:srgbClr val="4ADE80"/>
                </a:solidFill>
                <a:latin typeface="Arial"/>
              </a:defRPr>
            </a:pPr>
            <a:r>
              <a:rPr dirty="0"/>
              <a:t>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1475476"/>
            <a:ext cx="1036289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6000" b="1">
                <a:solidFill>
                  <a:srgbClr val="38BDF8"/>
                </a:solidFill>
                <a:latin typeface="Arial"/>
              </a:defRPr>
            </a:pPr>
            <a:r>
              <a:rPr dirty="0"/>
              <a:t>XIN CẢM ƠN</a:t>
            </a:r>
            <a:r>
              <a:rPr lang="en-US" dirty="0"/>
              <a:t> THẦY ĐÃ LẮNG NGHE</a:t>
            </a:r>
            <a:r>
              <a:rPr dirty="0"/>
              <a:t>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797" y="3566743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rPr dirty="0"/>
              <a:t>"</a:t>
            </a:r>
            <a:r>
              <a:rPr dirty="0" err="1"/>
              <a:t>Mã</a:t>
            </a:r>
            <a:r>
              <a:rPr dirty="0"/>
              <a:t> </a:t>
            </a:r>
            <a:r>
              <a:rPr dirty="0" err="1"/>
              <a:t>nguồn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việc</a:t>
            </a:r>
            <a:r>
              <a:rPr dirty="0"/>
              <a:t> </a:t>
            </a:r>
            <a:r>
              <a:rPr dirty="0" err="1"/>
              <a:t>bảo</a:t>
            </a:r>
            <a:r>
              <a:rPr dirty="0"/>
              <a:t> </a:t>
            </a:r>
            <a:r>
              <a:rPr dirty="0" err="1"/>
              <a:t>trì</a:t>
            </a:r>
            <a:r>
              <a:rPr dirty="0"/>
              <a:t>,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toàn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1347</Words>
  <Application>Microsoft Office PowerPoint</Application>
  <PresentationFormat>Widescreen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1. Đặt Vấn Đề: Điểm Nghẽn Trong Kiểm Thử Tự Động</vt:lpstr>
      <vt:lpstr>2. Cơ Sở Lý Thuyết: Thuộc Tính Kiểm Thử (Testability)</vt:lpstr>
      <vt:lpstr>3. Công Cụ Đánh Giá: Bộ Đo Lường Tĩnh Radon</vt:lpstr>
      <vt:lpstr>4. Phân Tích Thực Trạng: Dấu Hiệu God Object</vt:lpstr>
      <vt:lpstr>5. DEMO 1: Thực Thi Kiểm Thử Trên Kiến Trúc Ban Đầu</vt:lpstr>
      <vt:lpstr>6. Giải Pháp Lõi: Quy trình TsDD (Testability-Driven Dev)</vt:lpstr>
      <vt:lpstr>7. Kỹ Thuật Tái Cấu Trúc: Ứng Dụng Mẫu Thiết Kế</vt:lpstr>
      <vt:lpstr>TRƯỚC VÀ SAU KHI TÁI CẤU TRÚC</vt:lpstr>
      <vt:lpstr>8. DEMO 2: Kiểm Chứng Mã Nguồn Sau Tái Cấu Trúc</vt:lpstr>
      <vt:lpstr>9. So Sánh &amp; Đánh Giá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Luong Viet</cp:lastModifiedBy>
  <cp:revision>6</cp:revision>
  <dcterms:created xsi:type="dcterms:W3CDTF">2013-01-27T09:14:16Z</dcterms:created>
  <dcterms:modified xsi:type="dcterms:W3CDTF">2026-07-01T11:06:45Z</dcterms:modified>
  <cp:category/>
</cp:coreProperties>
</file>